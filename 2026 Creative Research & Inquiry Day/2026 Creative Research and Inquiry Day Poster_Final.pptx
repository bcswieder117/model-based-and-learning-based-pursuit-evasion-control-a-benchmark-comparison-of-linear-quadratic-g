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73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10368">
          <p15:clr>
            <a:srgbClr val="A4A3A4"/>
          </p15:clr>
        </p15:guide>
        <p15:guide id="4" orient="horz" pos="20160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pos="576">
          <p15:clr>
            <a:srgbClr val="A4A3A4"/>
          </p15:clr>
        </p15:guide>
        <p15:guide id="7" pos="27072">
          <p15:clr>
            <a:srgbClr val="A4A3A4"/>
          </p15:clr>
        </p15:guide>
        <p15:guide id="8" pos="6912">
          <p15:clr>
            <a:srgbClr val="A4A3A4"/>
          </p15:clr>
        </p15:guide>
        <p15:guide id="9" pos="13824">
          <p15:clr>
            <a:srgbClr val="A4A3A4"/>
          </p15:clr>
        </p15:guide>
        <p15:guide id="10" pos="21024">
          <p15:clr>
            <a:srgbClr val="A4A3A4"/>
          </p15:clr>
        </p15:guide>
        <p15:guide id="11" pos="6624">
          <p15:clr>
            <a:srgbClr val="A4A3A4"/>
          </p15:clr>
        </p15:guide>
        <p15:guide id="12" pos="7200">
          <p15:clr>
            <a:srgbClr val="A4A3A4"/>
          </p15:clr>
        </p15:guide>
        <p15:guide id="13" pos="20448">
          <p15:clr>
            <a:srgbClr val="A4A3A4"/>
          </p15:clr>
        </p15:guide>
        <p15:guide id="14" pos="20736">
          <p15:clr>
            <a:srgbClr val="A4A3A4"/>
          </p15:clr>
        </p15:guide>
        <p15:guide id="15" pos="13536">
          <p15:clr>
            <a:srgbClr val="A4A3A4"/>
          </p15:clr>
        </p15:guide>
        <p15:guide id="16" pos="14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5" autoAdjust="0"/>
    <p:restoredTop sz="99162" autoAdjust="0"/>
  </p:normalViewPr>
  <p:slideViewPr>
    <p:cSldViewPr snapToGrid="0" snapToObjects="1" showGuides="1">
      <p:cViewPr varScale="1">
        <p:scale>
          <a:sx n="23" d="100"/>
          <a:sy n="23" d="100"/>
        </p:scale>
        <p:origin x="1692" y="102"/>
      </p:cViewPr>
      <p:guideLst>
        <p:guide orient="horz" pos="19873"/>
        <p:guide orient="horz" pos="2161"/>
        <p:guide orient="horz" pos="10368"/>
        <p:guide orient="horz" pos="20160"/>
        <p:guide orient="horz" pos="576"/>
        <p:guide pos="576"/>
        <p:guide pos="27072"/>
        <p:guide pos="6912"/>
        <p:guide pos="13824"/>
        <p:guide pos="21024"/>
        <p:guide pos="6624"/>
        <p:guide pos="7200"/>
        <p:guide pos="20448"/>
        <p:guide pos="20736"/>
        <p:guide pos="13536"/>
        <p:guide pos="14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9575C-D042-4991-B22E-9C2064A628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2B4CD-6CB0-416F-AA21-264B598D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7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5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9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4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9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0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9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A891-EA14-E241-A437-93B1B255627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2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CH_Logo_Horizontal_TransparentBkgd_Purpl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972" y="914400"/>
            <a:ext cx="5584825" cy="1995207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451091" y="914400"/>
            <a:ext cx="30074616" cy="2516188"/>
          </a:xfrm>
          <a:prstGeom prst="rect">
            <a:avLst/>
          </a:prstGeom>
          <a:noFill/>
          <a:ln/>
        </p:spPr>
        <p:txBody>
          <a:bodyPr vert="horz" lIns="438912" tIns="219456" rIns="438912" bIns="219456" rtlCol="0" anchor="ctr">
            <a:normAutofit fontScale="62500" lnSpcReduction="20000"/>
          </a:bodyPr>
          <a:lstStyle>
            <a:lvl1pPr algn="ctr" defTabSz="2194560" rtl="0" eaLnBrk="1" latinLnBrk="0" hangingPunct="1">
              <a:spcBef>
                <a:spcPct val="0"/>
              </a:spcBef>
              <a:buNone/>
              <a:defRPr sz="21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and Learning-Based Pursuit-Evasion Control: A Benchmark Comparison of Linear-Quadratic Game Theory and Deep Reinforcement Learning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Blaine Swieder, Department of Electrical &amp; Computer Engineering, Tennessee Technological University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914403" y="3430588"/>
            <a:ext cx="14268450" cy="1169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2146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6718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1290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5862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thesis aims to develop a controlled pursuit-evasion benchmark </a:t>
            </a:r>
            <a:r>
              <a:rPr kumimoji="0" lang="en-US" sz="3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comparing two controller-design philosophies on the same system. More specifically, an exact finite-horizon linear-quadratic (LQ) dynamic game controller and a learning-based pursuer that is trained from sampled interaction. The benchmark is formulated in one-dimensional relative coordinates, with shared dynamics, shared state variables, and shared evaluation metrics. The analytical baseline is derived from a zero-sum finite-horizon game, while the learned controller is trained against the fixed Nash evader that is generated by the same </a:t>
            </a:r>
            <a:r>
              <a:rPr lang="en-US" sz="36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Riccati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sweep. The objective is not to propose a new RL algorithm, rather, it is to formulate a benchmark in which learned behavior can be judged directly against an exact game-theoretic reference. The thesis is organized around nominal performance and structured perturbations including model mismatch, additive process noise, and actuator saturation.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8E5D0-939B-C417-82D8-C8FD0579649C}"/>
              </a:ext>
            </a:extLst>
          </p:cNvPr>
          <p:cNvSpPr txBox="1"/>
          <p:nvPr/>
        </p:nvSpPr>
        <p:spPr>
          <a:xfrm>
            <a:off x="787400" y="13094732"/>
            <a:ext cx="134112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Research Gap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 interaction is fundamentally multi-agent; more specifically, lane changes, merges, and collision avoidance rely on the behavior of other agents.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Pursuit-Evasion games offer a natural adversarial abstraction for such interactions.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shows that classical dynamic-game papers usually provide analytical solutions without a learning comparison, while RL pursuit-evasion papers typically report learned behavior without comparing against an exact analytical baseline on the same dynamics.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thesis is to address this gap by formulating a benchmark that can be used to evaluate against an exact LQ saddle-point controller.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AEE4C-E5E7-1EC0-A056-98551B383152}"/>
              </a:ext>
            </a:extLst>
          </p:cNvPr>
          <p:cNvSpPr txBox="1"/>
          <p:nvPr/>
        </p:nvSpPr>
        <p:spPr>
          <a:xfrm>
            <a:off x="914403" y="23194246"/>
            <a:ext cx="12369795" cy="877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 learned pursuer recover behavior close to the exact LQ saddle-point controller on the nominal benchmark? 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should learned performance be interpreted when the analytical benchmark is available on the same system? 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the two controller classes respond when the assumptions supporting the analytical design are weakened? 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perturbations most clearly expose the difference between model-based optimality and learning-based adaptation? </a:t>
            </a:r>
          </a:p>
          <a:p>
            <a:pPr marL="571500" indent="-571500">
              <a:buFontTx/>
              <a:buChar char="-"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B59C84-BA9F-A12F-7961-4B7B29AEB5D5}"/>
              </a:ext>
            </a:extLst>
          </p:cNvPr>
          <p:cNvSpPr txBox="1"/>
          <p:nvPr/>
        </p:nvSpPr>
        <p:spPr>
          <a:xfrm>
            <a:off x="15500988" y="3828358"/>
            <a:ext cx="14389791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Overview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utilizes a controlled one-benchmark pursuit-evasion benchmark to compare a learned controller against an exact analytical baseline on the same system.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benchmark is formulated in relative coordinates, so the state keeps only quantities that matter for pursuit, relative distance and relative speed.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agents are modeled as double integrators over a finite, fixed horizon, which keeps the benchmark simple enough for exact analysis while maintaining nontrivial adversarial behavior.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benchmark is intended to be low-dimensional so that the differences between model-based and learning-based control can be interpreted cleanly as opposed to being hidden by unnecessary environmental complexity.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9F59B-989C-D3B8-58A5-62E27AE3A3F4}"/>
              </a:ext>
            </a:extLst>
          </p:cNvPr>
          <p:cNvSpPr txBox="1"/>
          <p:nvPr/>
        </p:nvSpPr>
        <p:spPr>
          <a:xfrm>
            <a:off x="30208914" y="3828358"/>
            <a:ext cx="1276788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Reference Controller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analytical baseline is the exact finite-horizon linear-quadratic saddle-point controller for the benchmark. 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computed by a backward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Riccati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sweep that produces both the pursuer gains and the fixed Nash evader gains. 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controller provides the model-based reference policy used throughout the study. 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is exact under the nominal benchmark assumptions, it gives the assumptions, it gives the comparison a principled standard rather than a heuristic baseline. 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8A7B1B-DE64-03FD-DC10-6C97353AC3B6}"/>
              </a:ext>
            </a:extLst>
          </p:cNvPr>
          <p:cNvSpPr txBox="1"/>
          <p:nvPr/>
        </p:nvSpPr>
        <p:spPr>
          <a:xfrm>
            <a:off x="15673767" y="25968835"/>
            <a:ext cx="132588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Basar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G.J.Olsder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Dynamic Noncooperative Game Theory, 1999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Schulman et al. “Proximal Policy Optimization Algorithms,” 2017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Yang et al., “A Review of Reinforcement Learning Approaches for Pursuit-Evasion Games”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Wan et al. “Multi-Agent Pursuit-Evasion Game Decision-Making Using Deep Reinforcement Learning”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Xu et al., “Pursuit and Evasion Strategy of a Differential Game Based on Deep Reinforcement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4C700-5D62-6A30-4132-7B51C3BC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3" y="723131"/>
            <a:ext cx="5584420" cy="1993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F154F-BCF0-F7C8-B41E-05F3C7B6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8600" y="11806875"/>
            <a:ext cx="16994568" cy="142920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9A02F8-45CD-7E6B-47CC-1B99835A8862}"/>
              </a:ext>
            </a:extLst>
          </p:cNvPr>
          <p:cNvSpPr txBox="1"/>
          <p:nvPr/>
        </p:nvSpPr>
        <p:spPr>
          <a:xfrm>
            <a:off x="30514005" y="9793555"/>
            <a:ext cx="121577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Learning-Based Controller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learning-based controller is a PPO-trained pursuer operating on the same benchmark that used by the analytical baseline.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learner only observes the relative state and a scalar reward and is not given the benchmark matrices directly.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During training, the evader is fixed as the Nash state-feedback policy generated by the analytical solution.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causes the learning problem to be a single-agent MDP induced by a stationary adversarial response.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1874E9-5188-350B-A7E8-09BF99F37509}"/>
              </a:ext>
            </a:extLst>
          </p:cNvPr>
          <p:cNvSpPr txBox="1"/>
          <p:nvPr/>
        </p:nvSpPr>
        <p:spPr>
          <a:xfrm>
            <a:off x="30701040" y="16384738"/>
            <a:ext cx="11783629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Differences in this Design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Most pursuit-evasion RL literature do not compare learned behavior against an exact analytical optimum on the same dynamics.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thesis fixes the benchmark first, derives the exact controller, and then trains the learning-based pursuer on the same system.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makes the comparison more interpretable,</a:t>
            </a: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since the two methods are judged under shared dynamics, shared state variables, and shared evaluation conditions.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</a:t>
            </a:r>
            <a:r>
              <a:rPr lang="en-US" sz="3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refore</a:t>
            </a: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contribution is not a novel RL algorithm, but a controlled benchmark for comparing learning-based and model-based control directly.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25B68A-9BBB-C532-2601-51C252E89626}"/>
              </a:ext>
            </a:extLst>
          </p:cNvPr>
          <p:cNvSpPr txBox="1"/>
          <p:nvPr/>
        </p:nvSpPr>
        <p:spPr>
          <a:xfrm>
            <a:off x="30701040" y="24678392"/>
            <a:ext cx="11783629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 are the Next Steps of this Research?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next step is to complete the full simulation study under nominal conditions and structured perturbations.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perturbations include model mismatch, additive process noise, and actuator saturation.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final objective will be to measure how closely the learned pursuer approaches the analytical baseline and how both designs degrade when nominal assumptions are weakened. </a:t>
            </a:r>
          </a:p>
        </p:txBody>
      </p:sp>
    </p:spTree>
    <p:extLst>
      <p:ext uri="{BB962C8B-B14F-4D97-AF65-F5344CB8AC3E}">
        <p14:creationId xmlns:p14="http://schemas.microsoft.com/office/powerpoint/2010/main" val="325464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862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>Tennessee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Renfro</dc:creator>
  <cp:lastModifiedBy>Blaine Swieder</cp:lastModifiedBy>
  <cp:revision>27</cp:revision>
  <dcterms:created xsi:type="dcterms:W3CDTF">2014-03-28T10:29:27Z</dcterms:created>
  <dcterms:modified xsi:type="dcterms:W3CDTF">2026-04-16T02:00:41Z</dcterms:modified>
</cp:coreProperties>
</file>